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Economica"/>
      <p:regular r:id="rId18"/>
      <p:bold r:id="rId19"/>
      <p:italic r:id="rId20"/>
      <p:boldItalic r:id="rId21"/>
    </p:embeddedFont>
    <p:embeddedFont>
      <p:font typeface="Open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conomica-italic.fntdata"/><Relationship Id="rId22" Type="http://schemas.openxmlformats.org/officeDocument/2006/relationships/font" Target="fonts/OpenSans-regular.fntdata"/><Relationship Id="rId21" Type="http://schemas.openxmlformats.org/officeDocument/2006/relationships/font" Target="fonts/Economica-boldItalic.fntdata"/><Relationship Id="rId24" Type="http://schemas.openxmlformats.org/officeDocument/2006/relationships/font" Target="fonts/OpenSans-italic.fntdata"/><Relationship Id="rId23"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Economica-bold.fntdata"/><Relationship Id="rId18" Type="http://schemas.openxmlformats.org/officeDocument/2006/relationships/font" Target="fonts/Economica-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4e9de22fd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4e9de22fd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4e9de22f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e4e9de22f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4e9de22f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4e9de22f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4e9de22fd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4e9de22fd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4e9de22fd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4e9de22f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4e9de22fd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4e9de22f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4e9de22fd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4e9de22f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4e9de22fd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4e9de22fd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4e9de22fd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4e9de22fd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4e9de22f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4e9de22f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4e9de22fd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4e9de22fd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2726700" y="-57600"/>
            <a:ext cx="3690600" cy="2440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uk" sz="2780"/>
              <a:t>Вебзастосунок для обліку особистих фінансів «SmartFinance»</a:t>
            </a:r>
            <a:endParaRPr sz="2780"/>
          </a:p>
        </p:txBody>
      </p:sp>
      <p:sp>
        <p:nvSpPr>
          <p:cNvPr id="63" name="Google Shape;63;p13"/>
          <p:cNvSpPr txBox="1"/>
          <p:nvPr>
            <p:ph idx="1" type="subTitle"/>
          </p:nvPr>
        </p:nvSpPr>
        <p:spPr>
          <a:xfrm>
            <a:off x="2726700" y="2937600"/>
            <a:ext cx="4384800" cy="1569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
              <a:buNone/>
            </a:pPr>
            <a:r>
              <a:rPr lang="uk" sz="1440"/>
              <a:t>Виконала: здобувачка 3 курсу,</a:t>
            </a:r>
            <a:endParaRPr sz="1440"/>
          </a:p>
          <a:p>
            <a:pPr indent="0" lvl="0" marL="0" rtl="0" algn="l">
              <a:lnSpc>
                <a:spcPct val="100000"/>
              </a:lnSpc>
              <a:spcBef>
                <a:spcPts val="0"/>
              </a:spcBef>
              <a:spcAft>
                <a:spcPts val="0"/>
              </a:spcAft>
              <a:buSzPts val="440"/>
              <a:buNone/>
            </a:pPr>
            <a:r>
              <a:rPr lang="uk" sz="1440"/>
              <a:t>групи ПЗПІ-23-9</a:t>
            </a:r>
            <a:endParaRPr sz="1440"/>
          </a:p>
          <a:p>
            <a:pPr indent="0" lvl="0" marL="0" rtl="0" algn="l">
              <a:lnSpc>
                <a:spcPct val="100000"/>
              </a:lnSpc>
              <a:spcBef>
                <a:spcPts val="0"/>
              </a:spcBef>
              <a:spcAft>
                <a:spcPts val="0"/>
              </a:spcAft>
              <a:buSzPts val="440"/>
              <a:buNone/>
            </a:pPr>
            <a:r>
              <a:rPr lang="uk" sz="1440"/>
              <a:t>Сеніна Єлизавета</a:t>
            </a:r>
            <a:endParaRPr sz="1440"/>
          </a:p>
          <a:p>
            <a:pPr indent="0" lvl="0" marL="0" rtl="0" algn="l">
              <a:lnSpc>
                <a:spcPct val="100000"/>
              </a:lnSpc>
              <a:spcBef>
                <a:spcPts val="0"/>
              </a:spcBef>
              <a:spcAft>
                <a:spcPts val="0"/>
              </a:spcAft>
              <a:buSzPts val="440"/>
              <a:buNone/>
            </a:pPr>
            <a:r>
              <a:t/>
            </a:r>
            <a:endParaRPr sz="1440"/>
          </a:p>
          <a:p>
            <a:pPr indent="0" lvl="0" marL="0" rtl="0" algn="l">
              <a:lnSpc>
                <a:spcPct val="100000"/>
              </a:lnSpc>
              <a:spcBef>
                <a:spcPts val="0"/>
              </a:spcBef>
              <a:spcAft>
                <a:spcPts val="0"/>
              </a:spcAft>
              <a:buSzPts val="440"/>
              <a:buNone/>
            </a:pPr>
            <a:r>
              <a:rPr lang="uk" sz="1440"/>
              <a:t>Керівник: доцент кафедри</a:t>
            </a:r>
            <a:endParaRPr sz="1440"/>
          </a:p>
          <a:p>
            <a:pPr indent="0" lvl="0" marL="0" rtl="0" algn="l">
              <a:lnSpc>
                <a:spcPct val="100000"/>
              </a:lnSpc>
              <a:spcBef>
                <a:spcPts val="0"/>
              </a:spcBef>
              <a:spcAft>
                <a:spcPts val="0"/>
              </a:spcAft>
              <a:buSzPts val="440"/>
              <a:buNone/>
            </a:pPr>
            <a:r>
              <a:rPr lang="uk" sz="1440"/>
              <a:t>ПІ Наталія Голян </a:t>
            </a:r>
            <a:endParaRPr sz="144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uk"/>
              <a:t>Аналіз предметної галузі</a:t>
            </a:r>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92500" lnSpcReduction="20000"/>
          </a:bodyPr>
          <a:lstStyle/>
          <a:p>
            <a:pPr indent="457200" lvl="0" marL="0" rtl="0" algn="l">
              <a:spcBef>
                <a:spcPts val="0"/>
              </a:spcBef>
              <a:spcAft>
                <a:spcPts val="0"/>
              </a:spcAft>
              <a:buNone/>
            </a:pPr>
            <a:r>
              <a:rPr lang="uk"/>
              <a:t>У сучасному світі кількість фінансових операцій постійно зростає, і користувачам стає важко контролювати власні доходи та витрати. Традиційні методи, такі як паперові записи чи електронні таблиці, не забезпечують достатньої зручності та не дають можливості швидко отримати аналітичну інформацію.</a:t>
            </a:r>
            <a:endParaRPr/>
          </a:p>
          <a:p>
            <a:pPr indent="457200" lvl="0" marL="0" rtl="0" algn="l">
              <a:spcBef>
                <a:spcPts val="1200"/>
              </a:spcBef>
              <a:spcAft>
                <a:spcPts val="0"/>
              </a:spcAft>
              <a:buNone/>
            </a:pPr>
            <a:r>
              <a:rPr lang="uk"/>
              <a:t> Саме тому виникає потреба у спеціалізованих програмних системах, які автоматизують процес обліку, гарантують збереження даних та формують статистичні звіти.</a:t>
            </a:r>
            <a:endParaRPr/>
          </a:p>
          <a:p>
            <a:pPr indent="457200" lvl="0" marL="0" rtl="0" algn="l">
              <a:spcBef>
                <a:spcPts val="1200"/>
              </a:spcBef>
              <a:spcAft>
                <a:spcPts val="1200"/>
              </a:spcAft>
              <a:buNone/>
            </a:pPr>
            <a:r>
              <a:rPr lang="uk"/>
              <a:t>Вебзастосунки є найбільш ефективним рішенням для таких задач, адже вони забезпечують доступ із будь‑якого пристрою, мають інтуїтивний інтерфейс і дозволяють централізовано зберігати інформацію.</a:t>
            </a:r>
            <a:endParaRPr/>
          </a:p>
        </p:txBody>
      </p:sp>
      <p:sp>
        <p:nvSpPr>
          <p:cNvPr id="70" name="Google Shape;70;p14"/>
          <p:cNvSpPr txBox="1"/>
          <p:nvPr/>
        </p:nvSpPr>
        <p:spPr>
          <a:xfrm>
            <a:off x="8467200" y="4514400"/>
            <a:ext cx="626400" cy="5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1"/>
                </a:solidFill>
                <a:latin typeface="Open Sans"/>
                <a:ea typeface="Open Sans"/>
                <a:cs typeface="Open Sans"/>
                <a:sym typeface="Open Sans"/>
              </a:rPr>
              <a:t>2</a:t>
            </a:r>
            <a:endParaRPr sz="1800">
              <a:solidFill>
                <a:schemeClr val="dk1"/>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uk"/>
              <a:t>Аналіз предметної галузі</a:t>
            </a:r>
            <a:endParaRPr/>
          </a:p>
        </p:txBody>
      </p:sp>
      <p:sp>
        <p:nvSpPr>
          <p:cNvPr id="76" name="Google Shape;76;p1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92500" lnSpcReduction="20000"/>
          </a:bodyPr>
          <a:lstStyle/>
          <a:p>
            <a:pPr indent="457200" lvl="0" marL="0" rtl="0" algn="l">
              <a:spcBef>
                <a:spcPts val="0"/>
              </a:spcBef>
              <a:spcAft>
                <a:spcPts val="0"/>
              </a:spcAft>
              <a:buNone/>
            </a:pPr>
            <a:r>
              <a:rPr lang="uk"/>
              <a:t>А</a:t>
            </a:r>
            <a:r>
              <a:rPr lang="uk"/>
              <a:t>наліз існуючих аналогів показав, що більшість систем пропонують лише базовий функціонал — додавання транзакцій та побудову графіків. Проте вони не враховують поведінкові аспекти користувача, зокрема емоційні причини витрат.</a:t>
            </a:r>
            <a:endParaRPr/>
          </a:p>
          <a:p>
            <a:pPr indent="0" lvl="0" marL="0" rtl="0" algn="l">
              <a:spcBef>
                <a:spcPts val="1200"/>
              </a:spcBef>
              <a:spcAft>
                <a:spcPts val="0"/>
              </a:spcAft>
              <a:buNone/>
            </a:pPr>
            <a:r>
              <a:t/>
            </a:r>
            <a:endParaRPr/>
          </a:p>
          <a:p>
            <a:pPr indent="457200" lvl="0" marL="0" rtl="0" algn="l">
              <a:spcBef>
                <a:spcPts val="1200"/>
              </a:spcBef>
              <a:spcAft>
                <a:spcPts val="0"/>
              </a:spcAft>
              <a:buNone/>
            </a:pPr>
            <a:r>
              <a:rPr lang="uk"/>
              <a:t>Саме ця особливість стала ключовою ідеєю проєкту SmartFinance. Система не лише веде облік доходів і витрат, а й дозволяє визначати емоційний контекст кожної транзакції. Це дає змогу користувачу краще розуміти власні фінансові звички, аналізувати причини витрат і формувати більш усвідомлену фінансову поведінку.</a:t>
            </a:r>
            <a:endParaRPr/>
          </a:p>
          <a:p>
            <a:pPr indent="0" lvl="0" marL="0" rtl="0" algn="l">
              <a:spcBef>
                <a:spcPts val="1200"/>
              </a:spcBef>
              <a:spcAft>
                <a:spcPts val="1200"/>
              </a:spcAft>
              <a:buNone/>
            </a:pPr>
            <a:r>
              <a:t/>
            </a:r>
            <a:endParaRPr/>
          </a:p>
        </p:txBody>
      </p:sp>
      <p:sp>
        <p:nvSpPr>
          <p:cNvPr id="77" name="Google Shape;77;p15"/>
          <p:cNvSpPr txBox="1"/>
          <p:nvPr/>
        </p:nvSpPr>
        <p:spPr>
          <a:xfrm>
            <a:off x="8467200" y="4514400"/>
            <a:ext cx="626400" cy="5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1"/>
                </a:solidFill>
                <a:latin typeface="Open Sans"/>
                <a:ea typeface="Open Sans"/>
                <a:cs typeface="Open Sans"/>
                <a:sym typeface="Open Sans"/>
              </a:rPr>
              <a:t>3</a:t>
            </a:r>
            <a:endParaRPr sz="1800">
              <a:solidFill>
                <a:schemeClr val="dk1"/>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uk"/>
              <a:t>Постановка задачі</a:t>
            </a:r>
            <a:endParaRPr/>
          </a:p>
        </p:txBody>
      </p:sp>
      <p:sp>
        <p:nvSpPr>
          <p:cNvPr id="83" name="Google Shape;83;p1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92500" lnSpcReduction="20000"/>
          </a:bodyPr>
          <a:lstStyle/>
          <a:p>
            <a:pPr indent="457200" lvl="0" marL="0" rtl="0" algn="l">
              <a:spcBef>
                <a:spcPts val="0"/>
              </a:spcBef>
              <a:spcAft>
                <a:spcPts val="0"/>
              </a:spcAft>
              <a:buNone/>
            </a:pPr>
            <a:r>
              <a:rPr lang="uk"/>
              <a:t>Метою проєкту є створення вебзастосунку SmartFinance, який автоматизує облік доходів і витрат, дозволяє систематизувати транзакції за категоріями та формувати фінансові цілі з відстеженням прогресу. У процесі розробки було визначено функціональні та нефункціональні вимоги, спроєктовано структуру бази даних, реалізовано авторизацію користувачів і механізми роботи з транзакціями. </a:t>
            </a:r>
            <a:endParaRPr/>
          </a:p>
          <a:p>
            <a:pPr indent="457200" lvl="0" marL="0" rtl="0" algn="l">
              <a:spcBef>
                <a:spcPts val="1200"/>
              </a:spcBef>
              <a:spcAft>
                <a:spcPts val="1200"/>
              </a:spcAft>
              <a:buNone/>
            </a:pPr>
            <a:r>
              <a:rPr lang="uk"/>
              <a:t>Система забезпечує аналітику витрат за категоріями та емоційними характеристиками, формує графічні звіти й надає користувачу інструменти для планування бюджету. Використання Python, Django та SQLite дозволило створити гнучкий і масштабований застосунок, який може бути розширений у майбутньому, зокрема інтеграцією з банківськими сервісами та мобільними платформами.</a:t>
            </a:r>
            <a:endParaRPr/>
          </a:p>
        </p:txBody>
      </p:sp>
      <p:sp>
        <p:nvSpPr>
          <p:cNvPr id="84" name="Google Shape;84;p16"/>
          <p:cNvSpPr txBox="1"/>
          <p:nvPr/>
        </p:nvSpPr>
        <p:spPr>
          <a:xfrm>
            <a:off x="8467200" y="4514400"/>
            <a:ext cx="626400" cy="5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1"/>
                </a:solidFill>
                <a:latin typeface="Open Sans"/>
                <a:ea typeface="Open Sans"/>
                <a:cs typeface="Open Sans"/>
                <a:sym typeface="Open Sans"/>
              </a:rPr>
              <a:t>4</a:t>
            </a:r>
            <a:endParaRPr sz="1800">
              <a:solidFill>
                <a:schemeClr val="dk1"/>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315925"/>
            <a:ext cx="8520600" cy="831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uk"/>
              <a:t>Архітектура програмного забезпечення </a:t>
            </a:r>
            <a:endParaRPr/>
          </a:p>
        </p:txBody>
      </p:sp>
      <p:sp>
        <p:nvSpPr>
          <p:cNvPr id="90" name="Google Shape;90;p1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457200" lvl="0" marL="0" rtl="0" algn="l">
              <a:lnSpc>
                <a:spcPct val="105000"/>
              </a:lnSpc>
              <a:spcBef>
                <a:spcPts val="0"/>
              </a:spcBef>
              <a:spcAft>
                <a:spcPts val="0"/>
              </a:spcAft>
              <a:buSzPts val="853"/>
              <a:buNone/>
            </a:pPr>
            <a:r>
              <a:rPr lang="uk" sz="1495"/>
              <a:t>Архітектура вебзастосунку SmartFinance побудована за принципом багаторівневої системи з використанням патерну MVC (Model–View–Controller). Це забезпечує чітке розділення між даними, бізнес‑логікою та інтерфейсом користувача, що робить застосунок гнучким і масштабованим.</a:t>
            </a:r>
            <a:endParaRPr sz="1495"/>
          </a:p>
          <a:p>
            <a:pPr indent="457200" lvl="0" marL="0" rtl="0" algn="l">
              <a:lnSpc>
                <a:spcPct val="105000"/>
              </a:lnSpc>
              <a:spcBef>
                <a:spcPts val="1200"/>
              </a:spcBef>
              <a:spcAft>
                <a:spcPts val="0"/>
              </a:spcAft>
              <a:buSzPts val="853"/>
              <a:buNone/>
            </a:pPr>
            <a:r>
              <a:rPr lang="uk" sz="1495"/>
              <a:t>Презентаційний рівень реалізовано за допомогою HTML, CSS та JavaScript і відповідає за взаємодію з користувачем. Логіка бізнес‑процесів побудована на фреймворку Django, який обробляє запити, керує моделями та виконує основні функції системи. Рівень зберігання даних реалізовано через реляційну базу SQLite, яка створюється автоматично засобами Django ORM, що забезпечує простоту налаштування, стабільність роботи та мінімізацію ручного втручання.</a:t>
            </a:r>
            <a:endParaRPr sz="1495"/>
          </a:p>
          <a:p>
            <a:pPr indent="457200" lvl="0" marL="0" rtl="0" algn="l">
              <a:lnSpc>
                <a:spcPct val="105000"/>
              </a:lnSpc>
              <a:spcBef>
                <a:spcPts val="1200"/>
              </a:spcBef>
              <a:spcAft>
                <a:spcPts val="1200"/>
              </a:spcAft>
              <a:buSzPts val="853"/>
              <a:buNone/>
            </a:pPr>
            <a:r>
              <a:rPr lang="uk" sz="1495"/>
              <a:t>Така архітектура дозволяє ефективно реалізувати всі бізнес‑вимоги, підтримує модульність і створює основу для подальшого розвитку системи, включаючи аналітику, фінансові цілі та емоційний аналіз витрат.</a:t>
            </a:r>
            <a:endParaRPr sz="1495"/>
          </a:p>
        </p:txBody>
      </p:sp>
      <p:sp>
        <p:nvSpPr>
          <p:cNvPr id="91" name="Google Shape;91;p17"/>
          <p:cNvSpPr txBox="1"/>
          <p:nvPr/>
        </p:nvSpPr>
        <p:spPr>
          <a:xfrm>
            <a:off x="8467200" y="4514400"/>
            <a:ext cx="626400" cy="5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1"/>
                </a:solidFill>
                <a:latin typeface="Open Sans"/>
                <a:ea typeface="Open Sans"/>
                <a:cs typeface="Open Sans"/>
                <a:sym typeface="Open Sans"/>
              </a:rPr>
              <a:t>5</a:t>
            </a:r>
            <a:endParaRPr sz="1800">
              <a:solidFill>
                <a:schemeClr val="dk1"/>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uk"/>
              <a:t>Проєктування ПЗ</a:t>
            </a:r>
            <a:endParaRPr/>
          </a:p>
        </p:txBody>
      </p:sp>
      <p:sp>
        <p:nvSpPr>
          <p:cNvPr id="97" name="Google Shape;97;p1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25000" lnSpcReduction="20000"/>
          </a:bodyPr>
          <a:lstStyle/>
          <a:p>
            <a:pPr indent="457200" lvl="0" marL="0" rtl="0" algn="l">
              <a:spcBef>
                <a:spcPts val="1400"/>
              </a:spcBef>
              <a:spcAft>
                <a:spcPts val="0"/>
              </a:spcAft>
              <a:buClr>
                <a:schemeClr val="dk1"/>
              </a:buClr>
              <a:buSzPts val="275"/>
              <a:buFont typeface="Arial"/>
              <a:buNone/>
            </a:pPr>
            <a:r>
              <a:rPr lang="uk" sz="5592"/>
              <a:t>У процесі проєктування вебзастосунку SmartFinance було використано методи моделювання та специфікації вимог:</a:t>
            </a:r>
            <a:endParaRPr sz="5592"/>
          </a:p>
          <a:p>
            <a:pPr indent="457200" lvl="0" marL="0" rtl="0" algn="l">
              <a:spcBef>
                <a:spcPts val="1400"/>
              </a:spcBef>
              <a:spcAft>
                <a:spcPts val="0"/>
              </a:spcAft>
              <a:buNone/>
            </a:pPr>
            <a:r>
              <a:rPr lang="uk" sz="5592"/>
              <a:t>1. </a:t>
            </a:r>
            <a:r>
              <a:rPr b="1" lang="uk" sz="5592"/>
              <a:t>UML‑діаграми класів</a:t>
            </a:r>
            <a:r>
              <a:rPr lang="uk" sz="5592"/>
              <a:t> для опису структури даних (користувачі, транзакції, категорії, фінансові цілі).</a:t>
            </a:r>
            <a:endParaRPr sz="5592"/>
          </a:p>
          <a:p>
            <a:pPr indent="457200" lvl="0" marL="0" rtl="0" algn="l">
              <a:spcBef>
                <a:spcPts val="1400"/>
              </a:spcBef>
              <a:spcAft>
                <a:spcPts val="0"/>
              </a:spcAft>
              <a:buNone/>
            </a:pPr>
            <a:r>
              <a:rPr lang="uk" sz="5592"/>
              <a:t>2. </a:t>
            </a:r>
            <a:r>
              <a:rPr b="1" lang="uk" sz="5592"/>
              <a:t>UML‑діаграми прецедентів</a:t>
            </a:r>
            <a:r>
              <a:rPr lang="uk" sz="5592"/>
              <a:t> для визначення основних сценаріїв взаємодії користувача із системою (авторизація, додавання транзакцій, перегляд статистики).</a:t>
            </a:r>
            <a:endParaRPr sz="5592"/>
          </a:p>
          <a:p>
            <a:pPr indent="457200" lvl="0" marL="0" rtl="0" algn="l">
              <a:spcBef>
                <a:spcPts val="1400"/>
              </a:spcBef>
              <a:spcAft>
                <a:spcPts val="0"/>
              </a:spcAft>
              <a:buNone/>
            </a:pPr>
            <a:r>
              <a:rPr lang="uk" sz="5592"/>
              <a:t>3. </a:t>
            </a:r>
            <a:r>
              <a:rPr b="1" lang="uk" sz="5592"/>
              <a:t>SRS‑специфікація</a:t>
            </a:r>
            <a:r>
              <a:rPr lang="uk" sz="5592"/>
              <a:t> для формалізації функціональних та нефункціональних вимог.</a:t>
            </a:r>
            <a:endParaRPr sz="5592"/>
          </a:p>
          <a:p>
            <a:pPr indent="457200" lvl="0" marL="0" rtl="0" algn="l">
              <a:spcBef>
                <a:spcPts val="1400"/>
              </a:spcBef>
              <a:spcAft>
                <a:spcPts val="0"/>
              </a:spcAft>
              <a:buNone/>
            </a:pPr>
            <a:r>
              <a:rPr lang="uk" sz="5592"/>
              <a:t>4. </a:t>
            </a:r>
            <a:r>
              <a:rPr b="1" lang="uk" sz="5592"/>
              <a:t>UI/UX‑проєктування</a:t>
            </a:r>
            <a:r>
              <a:rPr lang="uk" sz="5592"/>
              <a:t> — створення макетів інтерфейсу, що забезпечують зручність введення даних та перегляду аналітики.</a:t>
            </a:r>
            <a:endParaRPr sz="5592"/>
          </a:p>
          <a:p>
            <a:pPr indent="457200" lvl="0" marL="0" rtl="0" algn="l">
              <a:spcBef>
                <a:spcPts val="1400"/>
              </a:spcBef>
              <a:spcAft>
                <a:spcPts val="0"/>
              </a:spcAft>
              <a:buClr>
                <a:schemeClr val="dk1"/>
              </a:buClr>
              <a:buSzPts val="275"/>
              <a:buFont typeface="Arial"/>
              <a:buNone/>
            </a:pPr>
            <a:r>
              <a:rPr lang="uk" sz="5592"/>
              <a:t>Проєктування дозволило визначити логічну структуру системи, забезпечити узгодженість між модулями та підготувати основу для програмної реалізації.</a:t>
            </a:r>
            <a:endParaRPr sz="5592"/>
          </a:p>
          <a:p>
            <a:pPr indent="0" lvl="0" marL="0" rtl="0" algn="l">
              <a:spcBef>
                <a:spcPts val="1400"/>
              </a:spcBef>
              <a:spcAft>
                <a:spcPts val="1200"/>
              </a:spcAft>
              <a:buNone/>
            </a:pPr>
            <a:r>
              <a:t/>
            </a:r>
            <a:endParaRPr/>
          </a:p>
        </p:txBody>
      </p:sp>
      <p:sp>
        <p:nvSpPr>
          <p:cNvPr id="98" name="Google Shape;98;p18"/>
          <p:cNvSpPr txBox="1"/>
          <p:nvPr/>
        </p:nvSpPr>
        <p:spPr>
          <a:xfrm>
            <a:off x="8467200" y="4514400"/>
            <a:ext cx="626400" cy="5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1"/>
                </a:solidFill>
                <a:latin typeface="Open Sans"/>
                <a:ea typeface="Open Sans"/>
                <a:cs typeface="Open Sans"/>
                <a:sym typeface="Open Sans"/>
              </a:rPr>
              <a:t>6</a:t>
            </a:r>
            <a:endParaRPr sz="1800">
              <a:solidFill>
                <a:schemeClr val="dk1"/>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315925"/>
            <a:ext cx="8520600" cy="831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ct val="26190"/>
              <a:buFont typeface="Arial"/>
              <a:buNone/>
            </a:pPr>
            <a:r>
              <a:rPr lang="uk"/>
              <a:t>Проєктування ПЗ (алгоритми та методи)</a:t>
            </a:r>
            <a:endParaRPr/>
          </a:p>
        </p:txBody>
      </p:sp>
      <p:sp>
        <p:nvSpPr>
          <p:cNvPr id="104" name="Google Shape;104;p1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457200" lvl="0" marL="0" rtl="0" algn="l">
              <a:lnSpc>
                <a:spcPct val="100000"/>
              </a:lnSpc>
              <a:spcBef>
                <a:spcPts val="1400"/>
              </a:spcBef>
              <a:spcAft>
                <a:spcPts val="0"/>
              </a:spcAft>
              <a:buClr>
                <a:schemeClr val="dk1"/>
              </a:buClr>
              <a:buSzPts val="1100"/>
              <a:buFont typeface="Arial"/>
              <a:buNone/>
            </a:pPr>
            <a:r>
              <a:rPr lang="uk" sz="1350"/>
              <a:t>У процесі реалізації застосунку SmartFinance було застосовано такі алгоритми та методи:</a:t>
            </a:r>
            <a:endParaRPr sz="1350"/>
          </a:p>
          <a:p>
            <a:pPr indent="457200" lvl="0" marL="0" rtl="0" algn="l">
              <a:lnSpc>
                <a:spcPct val="100000"/>
              </a:lnSpc>
              <a:spcBef>
                <a:spcPts val="1400"/>
              </a:spcBef>
              <a:spcAft>
                <a:spcPts val="0"/>
              </a:spcAft>
              <a:buNone/>
            </a:pPr>
            <a:r>
              <a:rPr b="1" lang="uk" sz="1350"/>
              <a:t>1. Авторизація та автентифікація</a:t>
            </a:r>
            <a:r>
              <a:rPr lang="uk" sz="1350"/>
              <a:t> користувачів через механізми Django.</a:t>
            </a:r>
            <a:endParaRPr sz="1350"/>
          </a:p>
          <a:p>
            <a:pPr indent="457200" lvl="0" marL="0" rtl="0" algn="l">
              <a:lnSpc>
                <a:spcPct val="100000"/>
              </a:lnSpc>
              <a:spcBef>
                <a:spcPts val="1400"/>
              </a:spcBef>
              <a:spcAft>
                <a:spcPts val="0"/>
              </a:spcAft>
              <a:buNone/>
            </a:pPr>
            <a:r>
              <a:rPr b="1" lang="uk" sz="1350"/>
              <a:t>2. CRUD‑операції</a:t>
            </a:r>
            <a:r>
              <a:rPr lang="uk" sz="1350"/>
              <a:t> для управління транзакціями, категоріями та фінансовими цілями.</a:t>
            </a:r>
            <a:endParaRPr sz="1350"/>
          </a:p>
          <a:p>
            <a:pPr indent="457200" lvl="0" marL="0" rtl="0" algn="l">
              <a:lnSpc>
                <a:spcPct val="100000"/>
              </a:lnSpc>
              <a:spcBef>
                <a:spcPts val="1400"/>
              </a:spcBef>
              <a:spcAft>
                <a:spcPts val="0"/>
              </a:spcAft>
              <a:buNone/>
            </a:pPr>
            <a:r>
              <a:rPr b="1" lang="uk" sz="1350"/>
              <a:t>3. Методи</a:t>
            </a:r>
            <a:r>
              <a:rPr b="1" lang="uk" sz="1350"/>
              <a:t> аналітики даних</a:t>
            </a:r>
            <a:r>
              <a:rPr lang="uk" sz="1350"/>
              <a:t> — агрегування витрат за категоріями й емоційними ознаками, порівняння місяців.</a:t>
            </a:r>
            <a:endParaRPr sz="1350"/>
          </a:p>
          <a:p>
            <a:pPr indent="457200" lvl="0" marL="0" rtl="0" algn="l">
              <a:lnSpc>
                <a:spcPct val="100000"/>
              </a:lnSpc>
              <a:spcBef>
                <a:spcPts val="1400"/>
              </a:spcBef>
              <a:spcAft>
                <a:spcPts val="0"/>
              </a:spcAft>
              <a:buNone/>
            </a:pPr>
            <a:r>
              <a:rPr b="1" lang="uk" sz="1350"/>
              <a:t>4. Візуалізація результатів</a:t>
            </a:r>
            <a:r>
              <a:rPr lang="uk" sz="1350"/>
              <a:t> реалізована за допомогою JavaScript‑бібліотек (графіки, діаграми), що забезпечує інтерактивність та зручність перегляду. </a:t>
            </a:r>
            <a:endParaRPr sz="1350"/>
          </a:p>
          <a:p>
            <a:pPr indent="457200" lvl="0" marL="0" rtl="0" algn="l">
              <a:lnSpc>
                <a:spcPct val="100000"/>
              </a:lnSpc>
              <a:spcBef>
                <a:spcPts val="1400"/>
              </a:spcBef>
              <a:spcAft>
                <a:spcPts val="0"/>
              </a:spcAft>
              <a:buNone/>
            </a:pPr>
            <a:r>
              <a:rPr b="1" lang="uk" sz="1350"/>
              <a:t>5. UI/UX‑методи</a:t>
            </a:r>
            <a:r>
              <a:rPr lang="uk" sz="1350"/>
              <a:t> — інтуїтивна навігація, спрощене введення даних, відображення статистики на головній сторінці.</a:t>
            </a:r>
            <a:endParaRPr sz="1350"/>
          </a:p>
          <a:p>
            <a:pPr indent="457200" lvl="0" marL="0" rtl="0" algn="l">
              <a:lnSpc>
                <a:spcPct val="100000"/>
              </a:lnSpc>
              <a:spcBef>
                <a:spcPts val="1400"/>
              </a:spcBef>
              <a:spcAft>
                <a:spcPts val="1400"/>
              </a:spcAft>
              <a:buNone/>
            </a:pPr>
            <a:r>
              <a:rPr lang="uk" sz="1350"/>
              <a:t>Це забезпечило функціональність системи, її зручність для користувача та можливість подальшого розширення.</a:t>
            </a:r>
            <a:endParaRPr sz="1350"/>
          </a:p>
        </p:txBody>
      </p:sp>
      <p:sp>
        <p:nvSpPr>
          <p:cNvPr id="105" name="Google Shape;105;p19"/>
          <p:cNvSpPr txBox="1"/>
          <p:nvPr/>
        </p:nvSpPr>
        <p:spPr>
          <a:xfrm>
            <a:off x="8467200" y="4514400"/>
            <a:ext cx="626400" cy="5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1"/>
                </a:solidFill>
                <a:latin typeface="Open Sans"/>
                <a:ea typeface="Open Sans"/>
                <a:cs typeface="Open Sans"/>
                <a:sym typeface="Open Sans"/>
              </a:rPr>
              <a:t>7</a:t>
            </a:r>
            <a:endParaRPr sz="1800">
              <a:solidFill>
                <a:schemeClr val="dk1"/>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149825"/>
            <a:ext cx="8520600" cy="781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uk"/>
              <a:t>Засоби розробки</a:t>
            </a:r>
            <a:endParaRPr/>
          </a:p>
        </p:txBody>
      </p:sp>
      <p:sp>
        <p:nvSpPr>
          <p:cNvPr id="111" name="Google Shape;111;p20"/>
          <p:cNvSpPr txBox="1"/>
          <p:nvPr>
            <p:ph idx="1" type="body"/>
          </p:nvPr>
        </p:nvSpPr>
        <p:spPr>
          <a:xfrm>
            <a:off x="311700" y="1006000"/>
            <a:ext cx="8520600" cy="3573300"/>
          </a:xfrm>
          <a:prstGeom prst="rect">
            <a:avLst/>
          </a:prstGeom>
        </p:spPr>
        <p:txBody>
          <a:bodyPr anchorCtr="0" anchor="t" bIns="91425" lIns="91425" spcFirstLastPara="1" rIns="91425" wrap="square" tIns="91425">
            <a:noAutofit/>
          </a:bodyPr>
          <a:lstStyle/>
          <a:p>
            <a:pPr indent="457200" lvl="0" marL="0" rtl="0" algn="l">
              <a:lnSpc>
                <a:spcPct val="100000"/>
              </a:lnSpc>
              <a:spcBef>
                <a:spcPts val="1400"/>
              </a:spcBef>
              <a:spcAft>
                <a:spcPts val="0"/>
              </a:spcAft>
              <a:buClr>
                <a:schemeClr val="dk1"/>
              </a:buClr>
              <a:buSzPts val="1100"/>
              <a:buFont typeface="Arial"/>
              <a:buNone/>
            </a:pPr>
            <a:r>
              <a:rPr lang="uk" sz="1400"/>
              <a:t>Для створення вебзастосунку SmartFinance використано сучасні технології та інструменти, що забезпечують стабільність і масштабованість системи:</a:t>
            </a:r>
            <a:endParaRPr sz="1400"/>
          </a:p>
          <a:p>
            <a:pPr indent="457200" lvl="0" marL="0" rtl="0" algn="l">
              <a:lnSpc>
                <a:spcPct val="100000"/>
              </a:lnSpc>
              <a:spcBef>
                <a:spcPts val="1400"/>
              </a:spcBef>
              <a:spcAft>
                <a:spcPts val="0"/>
              </a:spcAft>
              <a:buNone/>
            </a:pPr>
            <a:r>
              <a:rPr b="1" lang="uk" sz="1400"/>
              <a:t>1. Мова програмування:</a:t>
            </a:r>
            <a:r>
              <a:rPr lang="uk" sz="1400"/>
              <a:t> Python — основна логіка серверної частини.</a:t>
            </a:r>
            <a:endParaRPr sz="1400"/>
          </a:p>
          <a:p>
            <a:pPr indent="457200" lvl="0" marL="0" rtl="0" algn="l">
              <a:lnSpc>
                <a:spcPct val="100000"/>
              </a:lnSpc>
              <a:spcBef>
                <a:spcPts val="1400"/>
              </a:spcBef>
              <a:spcAft>
                <a:spcPts val="0"/>
              </a:spcAft>
              <a:buNone/>
            </a:pPr>
            <a:r>
              <a:rPr b="1" lang="uk" sz="1400"/>
              <a:t>2. Фреймворк:</a:t>
            </a:r>
            <a:r>
              <a:rPr lang="uk" sz="1400"/>
              <a:t> Django — реалізація MVC‑архітектури, авторизації, CRUD‑операцій та аналітики.</a:t>
            </a:r>
            <a:endParaRPr sz="1400"/>
          </a:p>
          <a:p>
            <a:pPr indent="457200" lvl="0" marL="0" rtl="0" algn="l">
              <a:lnSpc>
                <a:spcPct val="100000"/>
              </a:lnSpc>
              <a:spcBef>
                <a:spcPts val="1400"/>
              </a:spcBef>
              <a:spcAft>
                <a:spcPts val="0"/>
              </a:spcAft>
              <a:buNone/>
            </a:pPr>
            <a:r>
              <a:rPr b="1" lang="uk" sz="1400"/>
              <a:t>3. База даних:</a:t>
            </a:r>
            <a:r>
              <a:rPr lang="uk" sz="1400"/>
              <a:t> SQLite — реляційна БД, що створюється автоматично через Django ORM.</a:t>
            </a:r>
            <a:endParaRPr sz="1400"/>
          </a:p>
          <a:p>
            <a:pPr indent="457200" lvl="0" marL="0" rtl="0" algn="l">
              <a:lnSpc>
                <a:spcPct val="100000"/>
              </a:lnSpc>
              <a:spcBef>
                <a:spcPts val="1400"/>
              </a:spcBef>
              <a:spcAft>
                <a:spcPts val="0"/>
              </a:spcAft>
              <a:buNone/>
            </a:pPr>
            <a:r>
              <a:rPr b="1" lang="uk" sz="1400"/>
              <a:t>4. Фронтенд:</a:t>
            </a:r>
            <a:r>
              <a:rPr lang="uk" sz="1400"/>
              <a:t> HTML, CSS, JavaScript — реалізація інтерфейсу користувача та інтерактивної візуалізації даних.</a:t>
            </a:r>
            <a:endParaRPr sz="1400"/>
          </a:p>
          <a:p>
            <a:pPr indent="457200" lvl="0" marL="0" rtl="0" algn="l">
              <a:lnSpc>
                <a:spcPct val="100000"/>
              </a:lnSpc>
              <a:spcBef>
                <a:spcPts val="1400"/>
              </a:spcBef>
              <a:spcAft>
                <a:spcPts val="0"/>
              </a:spcAft>
              <a:buNone/>
            </a:pPr>
            <a:r>
              <a:rPr b="1" lang="uk" sz="1400"/>
              <a:t>5. Інструменти розробки:</a:t>
            </a:r>
            <a:r>
              <a:rPr lang="uk" sz="1400"/>
              <a:t> Visual Studio Code, GitHub для контролю версій, браузер Chrome для тестування.</a:t>
            </a:r>
            <a:endParaRPr sz="1400"/>
          </a:p>
          <a:p>
            <a:pPr indent="457200" lvl="0" marL="0" rtl="0" algn="l">
              <a:lnSpc>
                <a:spcPct val="100000"/>
              </a:lnSpc>
              <a:spcBef>
                <a:spcPts val="1400"/>
              </a:spcBef>
              <a:spcAft>
                <a:spcPts val="1400"/>
              </a:spcAft>
              <a:buNone/>
            </a:pPr>
            <a:r>
              <a:rPr lang="uk" sz="1400"/>
              <a:t>Використання цих засобів забезпечило швидку розробку, простоту налаштування та можливість подальшого розширення функціоналу системи.</a:t>
            </a:r>
            <a:endParaRPr sz="2100"/>
          </a:p>
        </p:txBody>
      </p:sp>
      <p:sp>
        <p:nvSpPr>
          <p:cNvPr id="112" name="Google Shape;112;p20"/>
          <p:cNvSpPr txBox="1"/>
          <p:nvPr/>
        </p:nvSpPr>
        <p:spPr>
          <a:xfrm>
            <a:off x="8467200" y="4514400"/>
            <a:ext cx="626400" cy="5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1"/>
                </a:solidFill>
                <a:latin typeface="Open Sans"/>
                <a:ea typeface="Open Sans"/>
                <a:cs typeface="Open Sans"/>
                <a:sym typeface="Open Sans"/>
              </a:rPr>
              <a:t>8</a:t>
            </a:r>
            <a:endParaRPr sz="1800">
              <a:solidFill>
                <a:schemeClr val="dk1"/>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uk"/>
              <a:t>Приклади екранних форм </a:t>
            </a:r>
            <a:endParaRPr/>
          </a:p>
        </p:txBody>
      </p:sp>
      <p:sp>
        <p:nvSpPr>
          <p:cNvPr id="118" name="Google Shape;118;p2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9" name="Google Shape;119;p21"/>
          <p:cNvPicPr preferRelativeResize="0"/>
          <p:nvPr/>
        </p:nvPicPr>
        <p:blipFill>
          <a:blip r:embed="rId3">
            <a:alphaModFix/>
          </a:blip>
          <a:stretch>
            <a:fillRect/>
          </a:stretch>
        </p:blipFill>
        <p:spPr>
          <a:xfrm>
            <a:off x="491700" y="1225225"/>
            <a:ext cx="3715733" cy="3354000"/>
          </a:xfrm>
          <a:prstGeom prst="rect">
            <a:avLst/>
          </a:prstGeom>
          <a:noFill/>
          <a:ln>
            <a:noFill/>
          </a:ln>
        </p:spPr>
      </p:pic>
      <p:pic>
        <p:nvPicPr>
          <p:cNvPr id="120" name="Google Shape;120;p21"/>
          <p:cNvPicPr preferRelativeResize="0"/>
          <p:nvPr/>
        </p:nvPicPr>
        <p:blipFill>
          <a:blip r:embed="rId4">
            <a:alphaModFix/>
          </a:blip>
          <a:stretch>
            <a:fillRect/>
          </a:stretch>
        </p:blipFill>
        <p:spPr>
          <a:xfrm>
            <a:off x="4825069" y="1225225"/>
            <a:ext cx="3828531" cy="3354000"/>
          </a:xfrm>
          <a:prstGeom prst="rect">
            <a:avLst/>
          </a:prstGeom>
          <a:noFill/>
          <a:ln>
            <a:noFill/>
          </a:ln>
        </p:spPr>
      </p:pic>
      <p:sp>
        <p:nvSpPr>
          <p:cNvPr id="121" name="Google Shape;121;p21"/>
          <p:cNvSpPr txBox="1"/>
          <p:nvPr/>
        </p:nvSpPr>
        <p:spPr>
          <a:xfrm>
            <a:off x="8467200" y="4514400"/>
            <a:ext cx="626400" cy="5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1"/>
                </a:solidFill>
                <a:latin typeface="Open Sans"/>
                <a:ea typeface="Open Sans"/>
                <a:cs typeface="Open Sans"/>
                <a:sym typeface="Open Sans"/>
              </a:rPr>
              <a:t>9</a:t>
            </a:r>
            <a:endParaRPr sz="1800">
              <a:solidFill>
                <a:schemeClr val="dk1"/>
              </a:solidFill>
              <a:latin typeface="Open Sans"/>
              <a:ea typeface="Open Sans"/>
              <a:cs typeface="Open Sans"/>
              <a:sym typeface="Open Sans"/>
            </a:endParaRPr>
          </a:p>
        </p:txBody>
      </p:sp>
      <p:sp>
        <p:nvSpPr>
          <p:cNvPr id="122" name="Google Shape;122;p21"/>
          <p:cNvSpPr txBox="1"/>
          <p:nvPr/>
        </p:nvSpPr>
        <p:spPr>
          <a:xfrm>
            <a:off x="1284225" y="4618200"/>
            <a:ext cx="1624500" cy="31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a:solidFill>
                  <a:schemeClr val="dk1"/>
                </a:solidFill>
                <a:latin typeface="Open Sans"/>
                <a:ea typeface="Open Sans"/>
                <a:cs typeface="Open Sans"/>
                <a:sym typeface="Open Sans"/>
              </a:rPr>
              <a:t>Головний екран</a:t>
            </a:r>
            <a:endParaRPr>
              <a:solidFill>
                <a:schemeClr val="dk1"/>
              </a:solidFill>
              <a:latin typeface="Open Sans"/>
              <a:ea typeface="Open Sans"/>
              <a:cs typeface="Open Sans"/>
              <a:sym typeface="Open Sans"/>
            </a:endParaRPr>
          </a:p>
        </p:txBody>
      </p:sp>
      <p:sp>
        <p:nvSpPr>
          <p:cNvPr id="123" name="Google Shape;123;p21"/>
          <p:cNvSpPr txBox="1"/>
          <p:nvPr/>
        </p:nvSpPr>
        <p:spPr>
          <a:xfrm>
            <a:off x="5598138" y="4600800"/>
            <a:ext cx="2282400" cy="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a:solidFill>
                  <a:schemeClr val="dk1"/>
                </a:solidFill>
                <a:latin typeface="Open Sans"/>
                <a:ea typeface="Open Sans"/>
                <a:cs typeface="Open Sans"/>
                <a:sym typeface="Open Sans"/>
              </a:rPr>
              <a:t>Перегляд статистики</a:t>
            </a:r>
            <a:endParaRPr>
              <a:solidFill>
                <a:schemeClr val="dk1"/>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uk"/>
              <a:t>Приклади екранних форм </a:t>
            </a:r>
            <a:endParaRPr/>
          </a:p>
        </p:txBody>
      </p:sp>
      <p:sp>
        <p:nvSpPr>
          <p:cNvPr id="129" name="Google Shape;129;p2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0" name="Google Shape;130;p22"/>
          <p:cNvPicPr preferRelativeResize="0"/>
          <p:nvPr/>
        </p:nvPicPr>
        <p:blipFill>
          <a:blip r:embed="rId3">
            <a:alphaModFix/>
          </a:blip>
          <a:stretch>
            <a:fillRect/>
          </a:stretch>
        </p:blipFill>
        <p:spPr>
          <a:xfrm>
            <a:off x="441300" y="1225225"/>
            <a:ext cx="3415727" cy="3354000"/>
          </a:xfrm>
          <a:prstGeom prst="rect">
            <a:avLst/>
          </a:prstGeom>
          <a:noFill/>
          <a:ln>
            <a:noFill/>
          </a:ln>
        </p:spPr>
      </p:pic>
      <p:pic>
        <p:nvPicPr>
          <p:cNvPr id="131" name="Google Shape;131;p22"/>
          <p:cNvPicPr preferRelativeResize="0"/>
          <p:nvPr/>
        </p:nvPicPr>
        <p:blipFill>
          <a:blip r:embed="rId4">
            <a:alphaModFix/>
          </a:blip>
          <a:stretch>
            <a:fillRect/>
          </a:stretch>
        </p:blipFill>
        <p:spPr>
          <a:xfrm>
            <a:off x="5293000" y="1225225"/>
            <a:ext cx="3055541" cy="3353999"/>
          </a:xfrm>
          <a:prstGeom prst="rect">
            <a:avLst/>
          </a:prstGeom>
          <a:noFill/>
          <a:ln>
            <a:noFill/>
          </a:ln>
        </p:spPr>
      </p:pic>
      <p:sp>
        <p:nvSpPr>
          <p:cNvPr id="132" name="Google Shape;132;p22"/>
          <p:cNvSpPr txBox="1"/>
          <p:nvPr/>
        </p:nvSpPr>
        <p:spPr>
          <a:xfrm>
            <a:off x="8467200" y="4514400"/>
            <a:ext cx="626400" cy="5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1"/>
                </a:solidFill>
                <a:latin typeface="Open Sans"/>
                <a:ea typeface="Open Sans"/>
                <a:cs typeface="Open Sans"/>
                <a:sym typeface="Open Sans"/>
              </a:rPr>
              <a:t>10</a:t>
            </a:r>
            <a:endParaRPr sz="1800">
              <a:solidFill>
                <a:schemeClr val="dk1"/>
              </a:solidFill>
              <a:latin typeface="Open Sans"/>
              <a:ea typeface="Open Sans"/>
              <a:cs typeface="Open Sans"/>
              <a:sym typeface="Open Sans"/>
            </a:endParaRPr>
          </a:p>
        </p:txBody>
      </p:sp>
      <p:sp>
        <p:nvSpPr>
          <p:cNvPr id="133" name="Google Shape;133;p22"/>
          <p:cNvSpPr txBox="1"/>
          <p:nvPr/>
        </p:nvSpPr>
        <p:spPr>
          <a:xfrm>
            <a:off x="1174913" y="4618200"/>
            <a:ext cx="1948500" cy="31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a:solidFill>
                  <a:schemeClr val="dk1"/>
                </a:solidFill>
                <a:latin typeface="Open Sans"/>
                <a:ea typeface="Open Sans"/>
                <a:cs typeface="Open Sans"/>
                <a:sym typeface="Open Sans"/>
              </a:rPr>
              <a:t>Перегляд аналітики</a:t>
            </a:r>
            <a:endParaRPr>
              <a:solidFill>
                <a:schemeClr val="dk1"/>
              </a:solidFill>
              <a:latin typeface="Open Sans"/>
              <a:ea typeface="Open Sans"/>
              <a:cs typeface="Open Sans"/>
              <a:sym typeface="Open Sans"/>
            </a:endParaRPr>
          </a:p>
        </p:txBody>
      </p:sp>
      <p:sp>
        <p:nvSpPr>
          <p:cNvPr id="134" name="Google Shape;134;p22"/>
          <p:cNvSpPr txBox="1"/>
          <p:nvPr/>
        </p:nvSpPr>
        <p:spPr>
          <a:xfrm>
            <a:off x="5810400" y="4618200"/>
            <a:ext cx="2023200" cy="31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a:solidFill>
                  <a:schemeClr val="dk1"/>
                </a:solidFill>
                <a:latin typeface="Open Sans"/>
                <a:ea typeface="Open Sans"/>
                <a:cs typeface="Open Sans"/>
                <a:sym typeface="Open Sans"/>
              </a:rPr>
              <a:t>Екран накопичень</a:t>
            </a:r>
            <a:endParaRPr>
              <a:solidFill>
                <a:schemeClr val="dk1"/>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uk"/>
              <a:t>Аналіз результатів</a:t>
            </a:r>
            <a:endParaRPr/>
          </a:p>
        </p:txBody>
      </p:sp>
      <p:sp>
        <p:nvSpPr>
          <p:cNvPr id="140" name="Google Shape;140;p2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457200" lvl="0" marL="0" rtl="0" algn="l">
              <a:lnSpc>
                <a:spcPct val="95000"/>
              </a:lnSpc>
              <a:spcBef>
                <a:spcPts val="0"/>
              </a:spcBef>
              <a:spcAft>
                <a:spcPts val="0"/>
              </a:spcAft>
              <a:buNone/>
            </a:pPr>
            <a:r>
              <a:rPr lang="uk" sz="1400"/>
              <a:t>Після завершення розробки вебзастосунку SmartFinance було проведено тестування його основних модулів. Система показала відповідність визначеним вимогам: авторизація користувачів працює коректно, CRUD‑операції виконуються стабільно, а аналітичний модуль формує узагальнені звіти та графічну візуалізацію витрат. Інтерфейс виявився інтуїтивно зрозумілим, що спрощує введення даних і перегляд статистики. Візуалізація, реалізована засобами JavaScript, робить аналіз більш наочним і доступним.</a:t>
            </a:r>
            <a:endParaRPr sz="1400"/>
          </a:p>
          <a:p>
            <a:pPr indent="0" lvl="0" marL="0" rtl="0" algn="l">
              <a:lnSpc>
                <a:spcPct val="95000"/>
              </a:lnSpc>
              <a:spcBef>
                <a:spcPts val="1200"/>
              </a:spcBef>
              <a:spcAft>
                <a:spcPts val="0"/>
              </a:spcAft>
              <a:buNone/>
            </a:pPr>
            <a:r>
              <a:t/>
            </a:r>
            <a:endParaRPr sz="1400"/>
          </a:p>
          <a:p>
            <a:pPr indent="457200" lvl="0" marL="0" rtl="0" algn="l">
              <a:lnSpc>
                <a:spcPct val="95000"/>
              </a:lnSpc>
              <a:spcBef>
                <a:spcPts val="1200"/>
              </a:spcBef>
              <a:spcAft>
                <a:spcPts val="1200"/>
              </a:spcAft>
              <a:buNone/>
            </a:pPr>
            <a:r>
              <a:rPr lang="uk" sz="1400"/>
              <a:t>Отримані результати підтверджують працездатність системи та її практичну цінність для контролю особистих фінансів і планування бюджету. Водночас проєкт має потенціал для подальшого розвитку — зокрема інтеграції з мобільними платформами та банківськими сервісами.</a:t>
            </a:r>
            <a:endParaRPr sz="1400"/>
          </a:p>
        </p:txBody>
      </p:sp>
      <p:sp>
        <p:nvSpPr>
          <p:cNvPr id="141" name="Google Shape;141;p23"/>
          <p:cNvSpPr txBox="1"/>
          <p:nvPr/>
        </p:nvSpPr>
        <p:spPr>
          <a:xfrm>
            <a:off x="8467200" y="4514400"/>
            <a:ext cx="626400" cy="5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1"/>
                </a:solidFill>
                <a:latin typeface="Open Sans"/>
                <a:ea typeface="Open Sans"/>
                <a:cs typeface="Open Sans"/>
                <a:sym typeface="Open Sans"/>
              </a:rPr>
              <a:t>11</a:t>
            </a:r>
            <a:endParaRPr sz="1800">
              <a:solidFill>
                <a:schemeClr val="dk1"/>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uk"/>
              <a:t>Висновки</a:t>
            </a:r>
            <a:endParaRPr/>
          </a:p>
        </p:txBody>
      </p:sp>
      <p:sp>
        <p:nvSpPr>
          <p:cNvPr id="147" name="Google Shape;147;p2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457200" lvl="0" marL="0" rtl="0" algn="l">
              <a:lnSpc>
                <a:spcPct val="100000"/>
              </a:lnSpc>
              <a:spcBef>
                <a:spcPts val="0"/>
              </a:spcBef>
              <a:spcAft>
                <a:spcPts val="0"/>
              </a:spcAft>
              <a:buSzPts val="770"/>
              <a:buNone/>
            </a:pPr>
            <a:r>
              <a:rPr lang="uk" sz="1460"/>
              <a:t>У ході виконання роботи було розроблено вебзастосунок SmartFinance, який реалізує автоматизований облік доходів і витрат, підтримує емоційну категоризацію транзакцій та формує аналітичні звіти. Система відповідає поставленим вимогам, забезпечує зручний інтерфейс і наочну візуалізацію даних, що робить її корисною для контролю особистих фінансів і планування бюджету.</a:t>
            </a:r>
            <a:endParaRPr sz="1460"/>
          </a:p>
          <a:p>
            <a:pPr indent="0" lvl="0" marL="0" rtl="0" algn="l">
              <a:lnSpc>
                <a:spcPct val="100000"/>
              </a:lnSpc>
              <a:spcBef>
                <a:spcPts val="0"/>
              </a:spcBef>
              <a:spcAft>
                <a:spcPts val="0"/>
              </a:spcAft>
              <a:buSzPts val="770"/>
              <a:buNone/>
            </a:pPr>
            <a:r>
              <a:t/>
            </a:r>
            <a:endParaRPr sz="1460"/>
          </a:p>
          <a:p>
            <a:pPr indent="457200" lvl="0" marL="0" rtl="0" algn="l">
              <a:lnSpc>
                <a:spcPct val="100000"/>
              </a:lnSpc>
              <a:spcBef>
                <a:spcPts val="0"/>
              </a:spcBef>
              <a:spcAft>
                <a:spcPts val="0"/>
              </a:spcAft>
              <a:buSzPts val="770"/>
              <a:buNone/>
            </a:pPr>
            <a:r>
              <a:rPr lang="uk" sz="1460"/>
              <a:t>Розробка підтвердила ефективність використання сучасних технологій — Django, SQLite, HTML, CSS та JavaScript — для створення масштабованих і гнучких рішень. Отримані результати свідчать про практичну значущість проєкту та його перспективність: система може бути розширена за рахунок інтеграції з мобільними платформами, банківськими сервісами та додатковими інструментами фінансової аналітики.</a:t>
            </a:r>
            <a:endParaRPr sz="1460"/>
          </a:p>
          <a:p>
            <a:pPr indent="0" lvl="0" marL="0" rtl="0" algn="l">
              <a:lnSpc>
                <a:spcPct val="100000"/>
              </a:lnSpc>
              <a:spcBef>
                <a:spcPts val="0"/>
              </a:spcBef>
              <a:spcAft>
                <a:spcPts val="0"/>
              </a:spcAft>
              <a:buSzPts val="770"/>
              <a:buNone/>
            </a:pPr>
            <a:r>
              <a:t/>
            </a:r>
            <a:endParaRPr sz="1460"/>
          </a:p>
          <a:p>
            <a:pPr indent="457200" lvl="0" marL="0" rtl="0" algn="l">
              <a:lnSpc>
                <a:spcPct val="100000"/>
              </a:lnSpc>
              <a:spcBef>
                <a:spcPts val="0"/>
              </a:spcBef>
              <a:spcAft>
                <a:spcPts val="0"/>
              </a:spcAft>
              <a:buSzPts val="770"/>
              <a:buNone/>
            </a:pPr>
            <a:r>
              <a:rPr lang="uk" sz="1460"/>
              <a:t>Таким чином, проєкт SmartFinance не лише демонструє можливості сучасних засобів розробки, але й має реальний потенціал застосування у повсякденному житті для підвищення фінансової грамотності та досягнення особистих цілей.</a:t>
            </a:r>
            <a:endParaRPr sz="1460"/>
          </a:p>
        </p:txBody>
      </p:sp>
      <p:sp>
        <p:nvSpPr>
          <p:cNvPr id="148" name="Google Shape;148;p24"/>
          <p:cNvSpPr txBox="1"/>
          <p:nvPr/>
        </p:nvSpPr>
        <p:spPr>
          <a:xfrm>
            <a:off x="8467200" y="4514400"/>
            <a:ext cx="626400" cy="5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uk" sz="1800">
                <a:solidFill>
                  <a:schemeClr val="dk1"/>
                </a:solidFill>
                <a:latin typeface="Open Sans"/>
                <a:ea typeface="Open Sans"/>
                <a:cs typeface="Open Sans"/>
                <a:sym typeface="Open Sans"/>
              </a:rPr>
              <a:t>12</a:t>
            </a:r>
            <a:endParaRPr sz="1800">
              <a:solidFill>
                <a:schemeClr val="dk1"/>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